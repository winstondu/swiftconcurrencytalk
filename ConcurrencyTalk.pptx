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0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34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This talk is about the places where Swift concurrency behaves differently from what the code seems to say - all verified against Swift 6.2 and runnable in the ConcurrencyInSwift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Framing: Swift 6 eliminates data races at compile time. But the scheduling model still has rules people guess wrong - isolation inheritance, ordering, reentrancy. Those are today's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gotchas, each with runnable code from the ConcurrencyInSwift example project. Everything crashes or misbehaves live if you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1: the inheritance rules for the four ways of creating concurrent work, and the three places they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Sub-section 1a: opens with the async let quiz - a structured child evaluates the initializer, so the Task inside inherits nothing - then generalizes to the four task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Audience quiz. One word of difference: 'async let' vs 'let'. Ask for a show of hands: which one crashes?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Version 1 traps at MainActor.assertIsolated(). The async let right-hand side is evaluated inside a structured child task, which is nonisolated. So the inner Task is formed in a nonisolated context and inherits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tree: the @MainActor function spawns a structured child for the async let initializer. That child is nonisolated by the rules of SE-0304/0420. The unstructured Task is created INSIDE the child, so the context it inherits is 'nonisolated'.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Generalizes the quiz: the async let column is the case the audience just saw. Rebuilt from the WWDC 'flavors of tasks' table. Key asymmetry: structured children (async let, group) inherit priority and task-locals but NEVER actor isolation. Unstructured Task can inherit isolation; detached inherits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ADD6-BE61-6408-EB27-BE9742BD6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57FC3-099F-8312-C3FC-2BDF74B1B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BE4E8-94B1-7CCA-2AA9-068061CA5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Generalizes the quiz: the async let column is the case the audience just saw. Rebuilt from the WWDC 'flavors of tasks' table. Key asymmetry: structured children (async let, group) inherit priority and task-locals but NEVER actor isolation. Unstructured Task can inherit isolation; detached inherits nothing.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5B45-F03B-AD0E-DCF2-4715E43C9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3128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Sub-section 1b: Task {} inside an actor method is isolated to the actor only when the closure body references 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Setup for the actor-method gotcha. A class annotated with a global actor passes its isolation into Task {} with no self reference needed - the left panel's assertIsolated passes. An actor instance method does NOT: aliasing self ('let actor = self') is not a self reference in the body, so the Task is formed nonisolated and traps. See Examples/09 - runGlobalActorClassTaskInheritanceExample (works) vs runActorInstanceTaskInheritanceCrashExample (crashes). The resolution - a real self reference -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Resolution: the fix is a real self reference in the Task body. Here self.assertIsolated() passes and count mutates on the actor. Under SE-0420 the closure is inferred isolated to the actor ONLY because the body mentions self - a capture list alone ([self] with no use in the body) is not enough. If you want the isolation but don't otherwise need self, an explicit '_ = self' in the body is the documented workaround. Examples/09, runActorInstanceTaskInheritanceGotchaExample.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the language designers agree this rule is confusing. John McCall, from the closure isolation control discussion on the Swift forums. Still the shipping rule in Swift 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Sub-section 1c: nonisolated functions carry no formal isolation, so a Task created inside inherits none - regardless of the thread they happen to run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Third variation: a nonisolated function has no formal isolation, so a Task created inside it inherits none - even if the function is executing on the main thread at that moment. Async or sync makes no difference: both outer assertions pass (we happen to be on main), both inner Tasks trap. Isolation is lexical, not dynamic.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2: same-actor task ordering, the double-hop story, and the one wrinkle that still breaks FIFO in Swift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Quiz: does this print A, B, C? Swift 5: any order (double hop). Swift 6: A, B, C - guaranteed, BECAUSE the closures carry an explicit @MainActor annotation (formal isolation -&gt; ordered synchronous enqueue, SE-0431). Stress on stage: drop the annotation and it's a bare, implicitly-isolated Task {} - still ordered in practice on 6.4, but the guarantee is gone. That distinction is the next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SE-0431 the runtime could not see a task closure's isolation, so every Task first went to the global concurrent executor, then hopped to the actor. Two enqueues per task = order scrambled between siblings.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SE-0431 gives task closures @isolated(any) type: the runtime reads the closure's formal isolation and enqueues directly on that executor, synchronously, at creation. One FIFO queue = creation order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wrinkle: self IS referenced, so the bodies do run on ExampleActor (assertIsolated passes), and the starts are even ordered in practice. The reorder comes from the first line hopping to MainActor: SE-0431's promise (and the observed behavior) covers only START order on one executor. After a task switches executors, sibling order is off - and measured on Swift 6.4, an explicit @ExampleActor in annotation does NOT save you here (the annotated version reorders too). Don't rely on cross-actor ordering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made concrete. Each Task {} captures self, so it is IMPLICITLY isolated to ExampleActor - self.assertIsolated() passes. But because the first thing each task does is hop to the main actor, SE-0431 lets the compiler optimize WHERE the task initially starts: it may start these tasks on MainActor rather than on the actor. And with implicit isolation the ordered start is not guaranteed at all. As of Swift 6.2 that start-elsewhere optimization is not actually observed - but nothing in the language promises the order, so never rely on it. Quote: SE-0431 'reserves the right to optimize ... where the task initially starts executing' - https://github.com/swiftlang/swift-evolution/blob/main/proposals/0431-isolated-any-functions.md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in one sentence. 'Formally isolated' = the closure carries an explicit global-actor attribute like @MainActor in (or an explicit isolated capture). A bare self reference gives only implicit isolation - no ordering promise. And the promise itself covers only the START: after the body's first hop to another executor, sibling order is gone, annotated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3: SE-0461 nonisolated(nonsending), @concurrent, Task.immediate, and the Approachable Concurrency bundle.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6.1 vs 6.2 split for nonisolated functions. Sync always ran on the caller. Async used to hop to the global executor (SE-0338); with NonisolatedNonsendingByDefault it stays on the caller's actor. That's why it's called nonsending: the arguments no longer get sent across an isolation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Straight from Examples/11-NonisolatedNonsending/Modern - runnable. The plain nonisolated async helper now stays on the caller, so it can take non-Sendable arguments. @concurrent restores the old hop and therefore demands Sendable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SE-0472. A regular Task never runs before you return - it's always enqueued. Task.immediate starts synchronously on the caller ONLY when the closure's isolation matches the caller's (here: we're already on the main actor), and runs until the first ACTUAL suspension - an await that completes synchronously doesn't count. Great for 'must start now' UI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6.2 'Approachable Concurrency' bundle changes defaults per module. New Xcode projects: everything is MainActor unless stated otherwise. Watch for the two traps: accidental single-threading, and MainActor-inferred types breaking nonisolated conformances like Codable.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4: reentrancy. Actors serialize synchronous access, but suspend at every await - and other work interleaves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Examples/07-ActorReentrancy, OversoldReservationExample - run it live: prints [true, true], remaining -1. The two async let call sites at the bottom launch Asha and Ben into the SAME actor with overlapping lifetimes - that race is what the next slide's timeline walks through. Both pass the guard while tickets == 1, both suspend at the await, both decrement. No data race - a logic race. Examples/07 also has the FIXED variant (ReentrantReservationExample re-checks after the await).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Numbered walk-through of the interleaving on one actor: (1) Asha's guard sees 1 ticket and passes. (2) Asha hits the await and suspends - the actor is now free. (3) Ben enters the SAME actor during Asha's gap; his guard also sees 1 and passes. (4) Ben suspends at his await. (5) Asha resumes and decrements: tickets 1 -&gt; 0. (6) Ben resumes and decrements the now-stale count: 0 -&gt; -1, oversold. Only one lane is ever running at a time - the actor serializes - but two guards both read 1 before either decrement. Actors protect memory, not invariants across suspension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discipline: treat every await inside an actor as a point where the world may have changed. Re-check, or restructure so the mutation happens before the suspension.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TicketOffice the audience just watched oversell - now the whole guard-await-decrement window sits inside one AsyncLock critical section, so Ben queues behind Asha instead of interleaving. AsyncLock (relux-works/swift-stdlibplus) is a 'public actor' whose 'withLock&lt;T: Sendable&gt;(_ work: @Sendable () async throws -&gt; T) async rethrows -&gt; T' holds exclusivity ACROSS suspension points; callers queue FIFO. Be honest about the trade-off: this serializes the section, so callers now BLOCK behind it - deadlock if the critical section awaits something that itself needs the same lock, and lock-ordering concerns return with multiple locks. Prefer re-checking invariants where a single await suffices; use the lock when the whole sequence must be atomic. (Note for strict Swift 6 mode: the @Sendable closure mutating actor state needs care - the library targets Swift 5.x semantics.) Permalink on the slide: https://github.com/relux-works/swift-stdlibplus/blob/22b77c86269aefcbe2422a9fff98b22976943351/Sources/Async/AsyncLock.swift#L4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5: task group exit semantics - implicit awaiting, discarded results, cooperative cancellation.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Examples/04-TaskGroups/GroupErrorDiscardExample. Returning normally from the body: the group still awaits A (children never outlive the scope), but B's error was never consumed, so it is silently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Timeline: parent returns at ~0ms but the scope can't exit - structured concurrency awaits every child. B throws at 200ms into the void. A completes at 600ms. Only then does the scope exit, error-free as far as the caller knows.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Provenance for the previous two slides. This isn't a subtle corner - the discard-on-normal-return behavior openly contradicted SE-0304 for years. As accepted, the proposal's doc comment on withThrowingTaskGroup said that on a normal return, if a still-running child throws, the remaining tasks are cancelled and the group is emptied. That cancellation line was never implemented. A community member flagged it; the Language Steering Group (John McCall) confirmed it had never been the behavior and revised the proposal to match the implementation - errors from unconsumed children are discarded with no effect on siblings. (Discarding task groups are intentionally different - there, a child throw does cancel the rest.) Sources are hyperlinked on the slide: SE-0304 revision history https://github.com/swiftlang/swift-evolution/blob/main/proposals/0304-structured-concurrency.md#proposal-history ; the LSG revision post by John McCall https://forums.swift.org/t/accepted-with-modifications-se-0304-structured-concurrency/51850/9 ; and the original as-accepted text https://github.com/swiftlang/swift-evolution/blob/c2f363236520589ab94ef91a1419e06f39346133/proposals/0304-structured-concurrency.md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four group rules worth memorizing. cancelAll is a request, not an interrupt; children must cooperate via Task.isCancelled or checkCancellation.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6: framework callbacks - AVAudioEngine's tap block, created inside a @MainActor method, invoked on a realtime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Examples/13-ActorCapture-iOS. The tap block is created inside a @MainActor method, so it inherits main-actor isolation. Core Audio invokes it on the realtime render thread. Swift's runtime executor check trips: crash. The compiler saw nothing wrong - AVFoundation's API predates isolation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worlds: the closure is born on the main actor; Core Audio calls it on its render thread. The trap fires when Swift's runtime isolation checks are on (-enable-actor-data-race-checks, the Xcode Debug default) and only once audio actually flows. In Release the check is compiled out and the @MainActor closure silently races on the render thread - arguably worse than the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fix: create the closure OUTSIDE any actor isolation - a nonisolated factory function. The block then carries no isolation and can run anywhere Core Audio pleases. Capture what you need through Sendable context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- one line per section, 01 through 06, matching the agenda. Each maps to a numbered example target in the repo; run them, crash them, believe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go deeper. The example project builds per-concept targets: xcodebuild -list, pick a scheme,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Thanks -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iftlang/swift-evolution/blob/main/proposals/0431-isolated-any-functions.md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lux-works/swift-stdlibplus/blob/22b77c86269aefcbe2422a9fff98b22976943351/Sources/Async/AsyncLock.swift#L4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iftlang/swift-evolution/blob/main/proposals/0304-structured-concurrency.md#proposal-history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swiftlang/swift-evolution/blob/c2f363236520589ab94ef91a1419e06f39346133/proposals/0304-structured-concurrency.md" TargetMode="External"/><Relationship Id="rId4" Type="http://schemas.openxmlformats.org/officeDocument/2006/relationships/hyperlink" Target="https://forums.swift.org/t/accepted-with-modifications-se-0304-structured-concurrency/51850/9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1691640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4984" y="1869948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07008" y="2048256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Swift Concurrency</a:t>
            </a:r>
          </a:p>
          <a:p>
            <a:pPr algn="l">
              <a:lnSpc>
                <a:spcPts val="6300"/>
              </a:lnSpc>
            </a:pPr>
            <a:r>
              <a:rPr sz="6000" b="1" i="0">
                <a:solidFill>
                  <a:srgbClr val="FF9F0A"/>
                </a:solidFill>
                <a:latin typeface="Arial"/>
              </a:rPr>
              <a:t>Gotchas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98989D"/>
                </a:solidFill>
                <a:latin typeface="Arial"/>
              </a:rPr>
              <a:t>Six ways your async code will surprise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36366"/>
                </a:solidFill>
                <a:latin typeface="Arial"/>
              </a:rPr>
              <a:t>Winston 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WHY THIS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418320" cy="206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4000" b="1" i="0" dirty="0">
                <a:solidFill>
                  <a:srgbClr val="FFFFFF"/>
                </a:solidFill>
                <a:latin typeface="Arial"/>
              </a:rPr>
              <a:t>Swift </a:t>
            </a:r>
            <a:r>
              <a:rPr lang="en-US" sz="4000" b="1" i="0" dirty="0">
                <a:solidFill>
                  <a:srgbClr val="FFFFFF"/>
                </a:solidFill>
                <a:latin typeface="Arial"/>
              </a:rPr>
              <a:t>Concurrency is constantly </a:t>
            </a:r>
            <a:r>
              <a:rPr lang="en-US" sz="4000" b="1" i="0" dirty="0">
                <a:solidFill>
                  <a:srgbClr val="FF9F0A"/>
                </a:solidFill>
                <a:latin typeface="Arial"/>
              </a:rPr>
              <a:t>evolving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, at </a:t>
            </a:r>
            <a:r>
              <a:rPr lang="en-US" sz="4000" b="1">
                <a:solidFill>
                  <a:srgbClr val="FFFFFF"/>
                </a:solidFill>
                <a:latin typeface="Arial"/>
              </a:rPr>
              <a:t>times </a:t>
            </a:r>
            <a:r>
              <a:rPr lang="en-US" sz="4000" b="1" i="0">
                <a:solidFill>
                  <a:srgbClr val="FF9F0A"/>
                </a:solidFill>
                <a:latin typeface="Arial"/>
              </a:rPr>
              <a:t>mis-implemented</a:t>
            </a:r>
            <a:r>
              <a:rPr lang="en-US" sz="4000" b="1">
                <a:solidFill>
                  <a:srgbClr val="FFFFFF"/>
                </a:solidFill>
                <a:latin typeface="Arial"/>
              </a:rPr>
              <a:t>,</a:t>
            </a:r>
            <a:r>
              <a:rPr lang="en-US" sz="4000" b="1" i="0">
                <a:solidFill>
                  <a:srgbClr val="FF9F0A"/>
                </a:solidFill>
                <a:latin typeface="Arial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in general</a:t>
            </a:r>
            <a:r>
              <a:rPr lang="en-US" sz="4000" b="1" i="0" dirty="0">
                <a:solidFill>
                  <a:srgbClr val="FF9F0A"/>
                </a:solidFill>
                <a:latin typeface="Arial"/>
              </a:rPr>
              <a:t> </a:t>
            </a:r>
            <a:r>
              <a:rPr lang="en-US" sz="4000" b="1" dirty="0">
                <a:solidFill>
                  <a:srgbClr val="FF9F0A"/>
                </a:solidFill>
                <a:latin typeface="Arial"/>
              </a:rPr>
              <a:t>unintuitive</a:t>
            </a:r>
            <a:r>
              <a:rPr sz="40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Six gotchas, all of them runnable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74519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Where does your Task actually run?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587752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A, B, C — in that order?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55264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300984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Swift 6.2 moved your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68496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014215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Actors don't hold the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1728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27448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Where did my error go?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9F0A"/>
                </a:solidFill>
                <a:latin typeface="Arial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44068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Legacy APIs don't read your annotations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Where does your Task actually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Isolation is inherited — except when it isn't.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5943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Arial"/>
              </a:rPr>
              <a:t>01</a:t>
            </a:r>
            <a:r>
              <a:rPr sz="10000" b="1" i="0">
                <a:solidFill>
                  <a:srgbClr val="FF9F0A"/>
                </a:solidFill>
                <a:latin typeface="Arial"/>
              </a:rPr>
              <a:t>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218688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3660" y="3313785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6073" y="3408883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async let leaves your actor behind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70832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98989D"/>
                </a:solidFill>
                <a:latin typeface="Arial"/>
              </a:rPr>
              <a:t>A pop quiz — and the four task contracts behind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01A · POP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One of these crashes. Which?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outputZero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0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task.value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98989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98989D"/>
                </a:solidFill>
                <a:latin typeface="Arial"/>
              </a:rPr>
              <a:t>VERSION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outputZero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0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task.value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98989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98989D"/>
                </a:solidFill>
                <a:latin typeface="Arial"/>
              </a:rPr>
              <a:t>VERSION 2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The only difference is one word: </a:t>
            </a:r>
            <a:r>
              <a:rPr sz="1800" b="1" i="0">
                <a:solidFill>
                  <a:srgbClr val="FF9F0A"/>
                </a:solidFill>
                <a:latin typeface="Courier New"/>
              </a:rPr>
              <a:t>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6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01A ·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async let doesn't carry your actor with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84378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" y="307238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outputZero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0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task.value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45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FF453A"/>
                </a:solidFill>
                <a:latin typeface="Arial"/>
              </a:rPr>
              <a:t>    CRASHES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07592" y="2029968"/>
            <a:ext cx="128015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07592" y="2029968"/>
            <a:ext cx="128015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45352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843784"/>
            <a:ext cx="4901183" cy="2148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3072384"/>
            <a:ext cx="4901183" cy="2148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outputZero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0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task.value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0D1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30D158"/>
                </a:solidFill>
                <a:latin typeface="Arial"/>
              </a:rPr>
              <a:t>    WORKS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20840" y="2100834"/>
            <a:ext cx="54863" cy="61722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75703" y="2036368"/>
            <a:ext cx="82297" cy="126188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The </a:t>
            </a:r>
            <a:r>
              <a:rPr sz="1800" b="1" i="0">
                <a:solidFill>
                  <a:srgbClr val="FF9F0A"/>
                </a:solidFill>
                <a:latin typeface="Courier New"/>
              </a:rPr>
              <a:t>async let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initializer already left the main actor — the Task inherits 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7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01A · WHY IT CRASHES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Task is born in the wrong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86537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C1C21"/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@MainActor outputZero()</a:t>
            </a:r>
          </a:p>
          <a:p>
            <a:pPr algn="ctr"/>
            <a:r>
              <a:rPr sz="1000" b="0" i="0">
                <a:solidFill>
                  <a:srgbClr val="98989D"/>
                </a:solidFill>
                <a:latin typeface="Arial"/>
              </a:rPr>
              <a:t>parent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323697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C1C21"/>
          </a:solidFill>
          <a:ln w="1270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async let initializer</a:t>
            </a:r>
          </a:p>
          <a:p>
            <a:pPr algn="ctr"/>
            <a:r>
              <a:rPr sz="1000" b="0" i="0">
                <a:solidFill>
                  <a:srgbClr val="98989D"/>
                </a:solidFill>
                <a:latin typeface="Arial"/>
              </a:rPr>
              <a:t>structured child — nonisolated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460857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Task { assertIsolated() }</a:t>
            </a:r>
          </a:p>
          <a:p>
            <a:pPr algn="ctr"/>
            <a:r>
              <a:rPr sz="1000" b="0" i="0">
                <a:solidFill>
                  <a:srgbClr val="98989D"/>
                </a:solidFill>
                <a:latin typeface="Arial"/>
              </a:rPr>
              <a:t>inherits… nothing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432304"/>
            <a:ext cx="0" cy="402336"/>
          </a:xfrm>
          <a:prstGeom prst="line">
            <a:avLst/>
          </a:prstGeom>
          <a:ln w="19050">
            <a:solidFill>
              <a:srgbClr val="6363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2834640"/>
            <a:ext cx="0" cy="402336"/>
          </a:xfrm>
          <a:prstGeom prst="line">
            <a:avLst/>
          </a:prstGeom>
          <a:ln w="19050">
            <a:solidFill>
              <a:srgbClr val="636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3803904"/>
            <a:ext cx="0" cy="402336"/>
          </a:xfrm>
          <a:prstGeom prst="line">
            <a:avLst/>
          </a:prstGeom>
          <a:ln w="19050">
            <a:solidFill>
              <a:srgbClr val="6363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4206240"/>
            <a:ext cx="0" cy="402336"/>
          </a:xfrm>
          <a:prstGeom prst="line">
            <a:avLst/>
          </a:prstGeom>
          <a:ln w="19050">
            <a:solidFill>
              <a:srgbClr val="636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06440" y="33101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A84FF"/>
                </a:solidFill>
                <a:latin typeface="Arial"/>
              </a:rPr>
              <a:t>never inherits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6817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453A"/>
                </a:solidFill>
                <a:latin typeface="Arial"/>
              </a:rPr>
              <a:t>traps: not on the main 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8989D"/>
                </a:solidFill>
                <a:latin typeface="Arial"/>
              </a:rPr>
              <a:t>By the time the Task initializer runs, execution has already left the main actor. Inheritance copies the child's context — not the one you wrote the code in.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Structured children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never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inherit actor isolation  ·  SE-0304 / SE-0420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8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01A · FLAVORS OF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rial"/>
              </a:rPr>
              <a:t>Four ways to make a task — four different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2487168" cy="3749039"/>
          </a:xfrm>
          <a:prstGeom prst="roundRect">
            <a:avLst>
              <a:gd name="adj" fmla="val 4411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async let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0704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0704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89888" y="286207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Actor isolation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3774643"/>
            <a:ext cx="58521" cy="6583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10081" y="3705880"/>
            <a:ext cx="87782" cy="134600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89888" y="363931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Priority &amp; task-locals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4551883"/>
            <a:ext cx="58521" cy="6583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10081" y="4483120"/>
            <a:ext cx="87782" cy="134600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89888" y="4416552"/>
            <a:ext cx="17099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Arial"/>
              </a:rPr>
              <a:t>Scoped</a:t>
            </a:r>
            <a:endParaRPr sz="12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11296" y="1691640"/>
            <a:ext cx="2487168" cy="3749039"/>
          </a:xfrm>
          <a:prstGeom prst="roundRect">
            <a:avLst>
              <a:gd name="adj" fmla="val 4411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1938528"/>
            <a:ext cx="2029968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700" b="1" dirty="0" err="1">
                <a:solidFill>
                  <a:srgbClr val="FFFFFF"/>
                </a:solidFill>
                <a:latin typeface="Courier New"/>
              </a:rPr>
              <a:t>withTaskGroup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9896" y="2331720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8989D"/>
                </a:solidFill>
                <a:latin typeface="Arial"/>
              </a:rPr>
              <a:t>structured child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40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749040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78224" y="286207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Actor isolation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39896" y="3774643"/>
            <a:ext cx="58521" cy="6583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98417" y="3705880"/>
            <a:ext cx="87783" cy="134600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78224" y="363931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Priority &amp; task-locals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9896" y="4551883"/>
            <a:ext cx="58521" cy="6583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98417" y="4483120"/>
            <a:ext cx="87783" cy="134600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78224" y="4416552"/>
            <a:ext cx="17099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Arial"/>
              </a:rPr>
              <a:t>Scoped</a:t>
            </a:r>
            <a:endParaRPr sz="12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99632" y="1691640"/>
            <a:ext cx="2487168" cy="3749039"/>
          </a:xfrm>
          <a:prstGeom prst="roundRect">
            <a:avLst>
              <a:gd name="adj" fmla="val 4411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193852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Courier New"/>
              </a:rPr>
              <a:t>Task {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2331720"/>
            <a:ext cx="20299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98989D"/>
                </a:solidFill>
                <a:latin typeface="Arial"/>
              </a:rPr>
              <a:t>U</a:t>
            </a:r>
            <a:r>
              <a:rPr sz="1100" b="0" i="0" dirty="0">
                <a:solidFill>
                  <a:srgbClr val="98989D"/>
                </a:solidFill>
                <a:latin typeface="Arial"/>
              </a:rPr>
              <a:t>nstructured</a:t>
            </a:r>
            <a:r>
              <a:rPr lang="en-US" sz="1100" b="0" i="0" dirty="0">
                <a:solidFill>
                  <a:srgbClr val="98989D"/>
                </a:solidFill>
                <a:latin typeface="Arial"/>
              </a:rPr>
              <a:t> task</a:t>
            </a:r>
            <a:endParaRPr sz="1100" b="0" i="0" dirty="0">
              <a:solidFill>
                <a:srgbClr val="98989D"/>
              </a:solidFill>
              <a:latin typeface="Arial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428232" y="2997403"/>
            <a:ext cx="58521" cy="65837"/>
          </a:xfrm>
          <a:prstGeom prst="line">
            <a:avLst/>
          </a:prstGeom>
          <a:ln w="25400">
            <a:solidFill>
              <a:srgbClr val="FF9F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486753" y="2928640"/>
            <a:ext cx="87783" cy="134600"/>
          </a:xfrm>
          <a:prstGeom prst="line">
            <a:avLst/>
          </a:prstGeom>
          <a:ln w="25400">
            <a:solidFill>
              <a:srgbClr val="FF9F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66560" y="286207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Actor isolation *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28232" y="3774643"/>
            <a:ext cx="58521" cy="6583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486753" y="3705880"/>
            <a:ext cx="87783" cy="134600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66560" y="363931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Priority &amp; task-locals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37376" y="4480559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437376" y="4480559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66560" y="4416552"/>
            <a:ext cx="17099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 err="1">
                <a:solidFill>
                  <a:srgbClr val="98989D"/>
                </a:solidFill>
                <a:latin typeface="Arial"/>
              </a:rPr>
              <a:t>Unscoped</a:t>
            </a:r>
            <a:endParaRPr sz="1200" b="0" i="0" dirty="0">
              <a:solidFill>
                <a:srgbClr val="98989D"/>
              </a:solidFill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887968" y="1691640"/>
            <a:ext cx="2487168" cy="3749039"/>
          </a:xfrm>
          <a:prstGeom prst="roundRect">
            <a:avLst>
              <a:gd name="adj" fmla="val 4411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16568" y="193852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Task.detached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2331720"/>
            <a:ext cx="20299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98989D"/>
                </a:solidFill>
                <a:latin typeface="Arial"/>
              </a:rPr>
              <a:t>Detached task</a:t>
            </a:r>
            <a:endParaRPr sz="1100" b="0" i="0" dirty="0">
              <a:solidFill>
                <a:srgbClr val="98989D"/>
              </a:solidFill>
              <a:latin typeface="Arial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9125712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125712" y="2926079"/>
            <a:ext cx="128016" cy="128017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454896" y="286207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Actor isolation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25712" y="3703320"/>
            <a:ext cx="128016" cy="128015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125712" y="3703320"/>
            <a:ext cx="128016" cy="128015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454896" y="3639312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Priority &amp; task-locals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25712" y="4480559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25712" y="4480559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454896" y="4416552"/>
            <a:ext cx="17099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dirty="0" err="1">
                <a:solidFill>
                  <a:srgbClr val="98989D"/>
                </a:solidFill>
                <a:latin typeface="Arial"/>
              </a:rPr>
              <a:t>Unscoped</a:t>
            </a:r>
            <a:endParaRPr sz="1200" b="0" i="0" dirty="0">
              <a:solidFill>
                <a:srgbClr val="98989D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*  only when the closure is formally isolated to the actor — more on that in a minute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9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F4144-BEB8-7303-0677-51502F53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10200D-BE43-B883-7902-0CE47E54457C}"/>
              </a:ext>
            </a:extLst>
          </p:cNvPr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01A · FLAVORS OF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5ABE7-152D-583A-290A-BC49C91F1D91}"/>
              </a:ext>
            </a:extLst>
          </p:cNvPr>
          <p:cNvSpPr txBox="1"/>
          <p:nvPr/>
        </p:nvSpPr>
        <p:spPr>
          <a:xfrm>
            <a:off x="822960" y="822960"/>
            <a:ext cx="105430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rial"/>
              </a:rPr>
              <a:t>Four ways to make a task — four different contracts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8C1C9C-C1CE-48FC-E4EC-A3AFCF8C9E42}"/>
              </a:ext>
            </a:extLst>
          </p:cNvPr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BDCC30-8F3F-072C-ED21-822C7D33CAAF}"/>
              </a:ext>
            </a:extLst>
          </p:cNvPr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10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B5946EF-4803-149A-F8D8-AB48F82C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354" y="1743499"/>
            <a:ext cx="7772400" cy="387583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59F131B-08BF-AFD0-0C6E-890872F475C4}"/>
              </a:ext>
            </a:extLst>
          </p:cNvPr>
          <p:cNvSpPr txBox="1"/>
          <p:nvPr/>
        </p:nvSpPr>
        <p:spPr>
          <a:xfrm>
            <a:off x="1933354" y="5797289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</a:rPr>
              <a:t>From WWDC, minute 26:30 </a:t>
            </a:r>
            <a:endParaRPr sz="1800" b="1" i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821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5943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Arial"/>
              </a:rPr>
              <a:t>01</a:t>
            </a:r>
            <a:r>
              <a:rPr sz="10000" b="1" i="0">
                <a:solidFill>
                  <a:srgbClr val="FF9F0A"/>
                </a:solidFill>
                <a:latin typeface="Arial"/>
              </a:rPr>
              <a:t>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218688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3660" y="3313785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6073" y="3408883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Actors and 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70832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98989D"/>
                </a:solidFill>
                <a:latin typeface="Arial"/>
              </a:rPr>
              <a:t>In actor methods, Task { } needs a real self 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01B · CLASSES VS 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Methods from classes pass on actor isolation to Task, </a:t>
            </a:r>
          </a:p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methods from actors don’t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4215383"/>
            <a:ext cx="4901183" cy="2148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@globalActor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AppActor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: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GlobalActor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static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shared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AppActor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@AppActor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Model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AppActor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6A5D"/>
                </a:solidFill>
                <a:latin typeface="Courier New"/>
              </a:rPr>
              <a:t>"inherited - no self"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0D1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30D158"/>
                </a:solidFill>
                <a:latin typeface="Arial"/>
              </a:rPr>
              <a:t>    WORKS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98448" y="2100834"/>
            <a:ext cx="54864" cy="61722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53312" y="2036368"/>
            <a:ext cx="82295" cy="126188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5352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284378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Worker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=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self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 =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6A5D"/>
                </a:solidFill>
                <a:latin typeface="Courier New"/>
              </a:rPr>
              <a:t>"never reached"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task.value)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81635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alias ≠ self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920240"/>
            <a:ext cx="1515352" cy="347472"/>
          </a:xfrm>
          <a:prstGeom prst="roundRect">
            <a:avLst>
              <a:gd name="adj" fmla="val 50000"/>
            </a:avLst>
          </a:prstGeom>
          <a:solidFill>
            <a:srgbClr val="FF45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 dirty="0">
                <a:solidFill>
                  <a:srgbClr val="FF453A"/>
                </a:solidFill>
                <a:latin typeface="Arial"/>
              </a:rPr>
              <a:t>    CRASHES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9983" y="2029968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29983" y="2029968"/>
            <a:ext cx="128016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Global-actor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class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methods pass isolation on —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actor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methods don't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12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01B · ACTOR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…unless the Task body sees 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3262884"/>
            <a:ext cx="10323576" cy="2529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Worker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private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var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count 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0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tasks = [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"b"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"c"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].map { label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self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    count +=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"\(label): count \(count)"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t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tasks {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t.value)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32354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30D158"/>
                </a:solidFill>
                <a:latin typeface="Arial"/>
              </a:rPr>
              <a:t>self in the body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rial"/>
              </a:rPr>
              <a:t>The body must reference </a:t>
            </a:r>
            <a:r>
              <a:rPr sz="1800" b="1" i="0" dirty="0">
                <a:solidFill>
                  <a:srgbClr val="FF9F0A"/>
                </a:solidFill>
                <a:latin typeface="Courier New"/>
              </a:rPr>
              <a:t>self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— a capture list alone is not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13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1440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>
                <a:solidFill>
                  <a:srgbClr val="FF9F0A"/>
                </a:solidFill>
                <a:latin typeface="Arial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692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FFFFFF"/>
                </a:solidFill>
                <a:latin typeface="Arial"/>
              </a:rPr>
              <a:t>A closure will only be isolated to </a:t>
            </a:r>
            <a:r>
              <a:rPr sz="2400" b="0" i="0">
                <a:solidFill>
                  <a:srgbClr val="FF9F0A"/>
                </a:solidFill>
                <a:latin typeface="Courier New"/>
              </a:rPr>
              <a:t>self</a:t>
            </a:r>
            <a:r>
              <a:rPr sz="2600" b="0" i="0">
                <a:solidFill>
                  <a:srgbClr val="FFFFFF"/>
                </a:solidFill>
                <a:latin typeface="Arial"/>
              </a:rPr>
              <a:t> if there's a reference to </a:t>
            </a:r>
            <a:r>
              <a:rPr sz="2400" b="0" i="0">
                <a:solidFill>
                  <a:srgbClr val="FF9F0A"/>
                </a:solidFill>
                <a:latin typeface="Courier New"/>
              </a:rPr>
              <a:t>self</a:t>
            </a:r>
            <a:r>
              <a:rPr sz="2600" b="0" i="0">
                <a:solidFill>
                  <a:srgbClr val="FFFFFF"/>
                </a:solidFill>
                <a:latin typeface="Arial"/>
              </a:rPr>
              <a:t> in the body… most of us working on the language agree this rule is pretty </a:t>
            </a:r>
            <a:r>
              <a:rPr sz="2600" b="1" i="0">
                <a:solidFill>
                  <a:srgbClr val="FF9F0A"/>
                </a:solidFill>
                <a:latin typeface="Arial"/>
              </a:rPr>
              <a:t>baroque and confusing</a:t>
            </a:r>
            <a:r>
              <a:rPr sz="2600" b="0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98989D"/>
                </a:solidFill>
                <a:latin typeface="Arial"/>
              </a:rPr>
              <a:t>John McCall — Swift core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132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36366"/>
                </a:solidFill>
                <a:latin typeface="Arial"/>
              </a:rPr>
              <a:t>forums.swift.org · Closure isolation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14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5943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Arial"/>
              </a:rPr>
              <a:t>01</a:t>
            </a:r>
            <a:r>
              <a:rPr sz="10000" b="1" i="0">
                <a:solidFill>
                  <a:srgbClr val="FF9F0A"/>
                </a:solidFill>
                <a:latin typeface="Arial"/>
              </a:rPr>
              <a:t>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218688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3660" y="3313785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6073" y="3408883"/>
            <a:ext cx="307238" cy="51206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nonisolated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70832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98989D"/>
                </a:solidFill>
                <a:latin typeface="Arial"/>
              </a:rPr>
              <a:t>Nothing to inherit — wherever they happen to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01C · NONISOLATED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nonisolated functions have nothing to pass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If any of these methods are called from </a:t>
            </a:r>
            <a:r>
              <a:rPr sz="1500" b="0" i="0">
                <a:solidFill>
                  <a:srgbClr val="64D2FF"/>
                </a:solidFill>
                <a:latin typeface="Courier New"/>
              </a:rPr>
              <a:t>MainActor</a:t>
            </a:r>
            <a:r>
              <a:rPr sz="1500" b="0" i="0">
                <a:solidFill>
                  <a:srgbClr val="98989D"/>
                </a:solidFill>
                <a:latin typeface="Arial"/>
              </a:rPr>
              <a:t>, the </a:t>
            </a:r>
            <a:r>
              <a:rPr sz="1500" b="0" i="0">
                <a:solidFill>
                  <a:srgbClr val="64D2FF"/>
                </a:solidFill>
                <a:latin typeface="Courier New"/>
              </a:rPr>
              <a:t>Task</a:t>
            </a:r>
            <a:r>
              <a:rPr sz="1500" b="0" i="0">
                <a:solidFill>
                  <a:srgbClr val="98989D"/>
                </a:solidFill>
                <a:latin typeface="Arial"/>
              </a:rPr>
              <a:t> each one spawns will </a:t>
            </a:r>
            <a:r>
              <a:rPr sz="1500" b="1" i="0">
                <a:solidFill>
                  <a:srgbClr val="FF453A"/>
                </a:solidFill>
                <a:latin typeface="Arial"/>
              </a:rPr>
              <a:t>crash</a:t>
            </a:r>
            <a:r>
              <a:rPr sz="1500" b="0" i="0">
                <a:solidFill>
                  <a:srgbClr val="98989D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3703320"/>
          </a:xfrm>
          <a:prstGeom prst="roundRect">
            <a:avLst>
              <a:gd name="adj" fmla="val 2962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" y="426110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4480559" cy="3246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Examples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: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Sendable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nonisolated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6C7986"/>
                </a:solidFill>
                <a:latin typeface="Courier New"/>
              </a:rPr>
              <a:t>// passes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336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traps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194560"/>
            <a:ext cx="1906524" cy="347472"/>
          </a:xfrm>
          <a:prstGeom prst="roundRect">
            <a:avLst>
              <a:gd name="adj" fmla="val 50000"/>
            </a:avLst>
          </a:prstGeom>
          <a:solidFill>
            <a:srgbClr val="FF45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FF453A"/>
                </a:solidFill>
                <a:latin typeface="Arial"/>
              </a:rPr>
              <a:t>ASYNC — CRASHES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65960"/>
            <a:ext cx="5120640" cy="3703320"/>
          </a:xfrm>
          <a:prstGeom prst="roundRect">
            <a:avLst>
              <a:gd name="adj" fmla="val 2962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426110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194560"/>
            <a:ext cx="4480559" cy="3246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Examples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: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Sendable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nonisolated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startSync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</a:t>
            </a:r>
            <a:r>
              <a:rPr sz="1200" b="0" i="0">
                <a:solidFill>
                  <a:srgbClr val="6C7986"/>
                </a:solidFill>
                <a:latin typeface="Courier New"/>
              </a:rPr>
              <a:t>// passes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42336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traps too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194560"/>
            <a:ext cx="2221992" cy="347472"/>
          </a:xfrm>
          <a:prstGeom prst="roundRect">
            <a:avLst>
              <a:gd name="adj" fmla="val 50000"/>
            </a:avLst>
          </a:prstGeom>
          <a:solidFill>
            <a:srgbClr val="FF45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FF453A"/>
                </a:solidFill>
                <a:latin typeface="Arial"/>
              </a:rPr>
              <a:t>SYNC — CRASHES TOO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Isolation is decided by where code is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written</a:t>
            </a:r>
            <a:r>
              <a:rPr sz="1800" b="1" i="0">
                <a:solidFill>
                  <a:srgbClr val="FFFFFF"/>
                </a:solidFill>
                <a:latin typeface="Arial"/>
              </a:rPr>
              <a:t>, not what thread it happens to be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16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A, B, C — in that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What SE-0431 did to task ordering.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POP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Three tasks, one actor — what order?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3291840"/>
          </a:xfrm>
          <a:prstGeom prst="roundRect">
            <a:avLst>
              <a:gd name="adj" fmla="val 3333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9902952" cy="2834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schedule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"B"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"C"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98989D"/>
                </a:solidFill>
                <a:latin typeface="Arial"/>
              </a:rPr>
              <a:t>Swift 5:  </a:t>
            </a:r>
            <a:r>
              <a:rPr sz="2000" b="1" i="0">
                <a:solidFill>
                  <a:srgbClr val="FF453A"/>
                </a:solidFill>
                <a:latin typeface="Arial"/>
              </a:rPr>
              <a:t>any order      </a:t>
            </a:r>
            <a:r>
              <a:rPr sz="2000" b="1" i="0">
                <a:solidFill>
                  <a:srgbClr val="98989D"/>
                </a:solidFill>
                <a:latin typeface="Arial"/>
              </a:rPr>
              <a:t>Swift 6:  </a:t>
            </a:r>
            <a:r>
              <a:rPr sz="2000" b="1" i="0">
                <a:solidFill>
                  <a:srgbClr val="30D158"/>
                </a:solidFill>
                <a:latin typeface="Arial"/>
              </a:rPr>
              <a:t>A, B, C — guaranteed</a:t>
            </a:r>
            <a:r>
              <a:rPr sz="1600" b="1" i="0">
                <a:solidFill>
                  <a:srgbClr val="98989D"/>
                </a:solidFill>
                <a:latin typeface="Arial"/>
              </a:rPr>
              <a:t>  (that annotation is doing the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18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BEFORE SE-0431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Every Task paid a double 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38201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717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Main 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3982211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7719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Global executor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905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Task { } 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89077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A84FF">
              <a:alpha val="28000"/>
            </a:srgbClr>
          </a:solidFill>
          <a:ln w="1270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0A84FF"/>
                </a:solidFill>
                <a:latin typeface="Arial"/>
              </a:rPr>
              <a:t>enqueue #1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446020"/>
            <a:ext cx="548640" cy="1600200"/>
          </a:xfrm>
          <a:prstGeom prst="line">
            <a:avLst/>
          </a:prstGeom>
          <a:ln w="22225">
            <a:solidFill>
              <a:srgbClr val="FF9F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126479" y="2446020"/>
            <a:ext cx="1097281" cy="1600200"/>
          </a:xfrm>
          <a:prstGeom prst="line">
            <a:avLst/>
          </a:prstGeom>
          <a:ln w="22225">
            <a:solidFill>
              <a:srgbClr val="FF9F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229057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enqueue #2 — body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3580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8989D"/>
                </a:solidFill>
                <a:latin typeface="Arial"/>
              </a:rPr>
              <a:t>hop back — racing its siblings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5074920"/>
            <a:ext cx="8778240" cy="0"/>
          </a:xfrm>
          <a:prstGeom prst="line">
            <a:avLst/>
          </a:prstGeom>
          <a:ln w="9525">
            <a:solidFill>
              <a:srgbClr val="2E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36366"/>
                </a:solidFill>
                <a:latin typeface="Arial"/>
              </a:rPr>
              <a:t>time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Two enqueues per task — creation order was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lost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on the way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19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AFTER SE-0431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One enqueue, straight onto your 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382012"/>
            <a:ext cx="128016" cy="128016"/>
          </a:xfrm>
          <a:prstGeom prst="ellipse">
            <a:avLst/>
          </a:prstGeom>
          <a:solidFill>
            <a:srgbClr val="64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717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Caller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3982211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7719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Main 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9057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64D2FF">
              <a:alpha val="28000"/>
            </a:srgbClr>
          </a:solidFill>
          <a:ln w="12700">
            <a:solidFill>
              <a:srgbClr val="64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64D2FF"/>
                </a:solidFill>
                <a:latin typeface="Arial"/>
              </a:rPr>
              <a:t>Task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6100" y="2555748"/>
            <a:ext cx="1120140" cy="1229867"/>
          </a:xfrm>
          <a:prstGeom prst="line">
            <a:avLst/>
          </a:prstGeom>
          <a:ln w="22225">
            <a:solidFill>
              <a:srgbClr val="FF9F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29057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64D2FF">
              <a:alpha val="28000"/>
            </a:srgbClr>
          </a:solidFill>
          <a:ln w="12700">
            <a:solidFill>
              <a:srgbClr val="64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64D2FF"/>
                </a:solidFill>
                <a:latin typeface="Arial"/>
              </a:rPr>
              <a:t>Task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37660" y="2555748"/>
            <a:ext cx="1668780" cy="1229867"/>
          </a:xfrm>
          <a:prstGeom prst="line">
            <a:avLst/>
          </a:prstGeom>
          <a:ln w="22225">
            <a:solidFill>
              <a:srgbClr val="FF9F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46320" y="229057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64D2FF">
              <a:alpha val="28000"/>
            </a:srgbClr>
          </a:solidFill>
          <a:ln w="12700">
            <a:solidFill>
              <a:srgbClr val="64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64D2FF"/>
                </a:solidFill>
                <a:latin typeface="Arial"/>
              </a:rPr>
              <a:t>Task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89220" y="2555748"/>
            <a:ext cx="2217420" cy="1229867"/>
          </a:xfrm>
          <a:prstGeom prst="line">
            <a:avLst/>
          </a:prstGeom>
          <a:ln w="22225">
            <a:solidFill>
              <a:srgbClr val="FF9F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06240" y="38907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print("A")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8907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print("B")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8907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print("C")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21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Arial"/>
              </a:rPr>
              <a:t>synchronous enqueue at creation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074920"/>
            <a:ext cx="8778240" cy="0"/>
          </a:xfrm>
          <a:prstGeom prst="line">
            <a:avLst/>
          </a:prstGeom>
          <a:ln w="9525">
            <a:solidFill>
              <a:srgbClr val="2E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36366"/>
                </a:solidFill>
                <a:latin typeface="Arial"/>
              </a:rPr>
              <a:t>time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Same actor + formal isolation → tasks start in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creation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20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THE WRINKLE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Order dies at the first 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729484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ExampleActor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startTasks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x =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.run {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}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first line hops away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self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y =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.run {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"b"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self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z: same shape, prints "c"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27020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order lost at the hop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Ordered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starts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on one executor — after the first hop, siblings race, annotated or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21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Isolated to the actor — free to start on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6400800" cy="3383280"/>
          </a:xfrm>
          <a:prstGeom prst="roundRect">
            <a:avLst>
              <a:gd name="adj" fmla="val 3243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798063"/>
            <a:ext cx="6181344" cy="214884"/>
          </a:xfrm>
          <a:prstGeom prst="rect">
            <a:avLst/>
          </a:prstGeom>
          <a:solidFill>
            <a:srgbClr val="FF9F0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5760720" cy="2926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5DD8FF"/>
                </a:solidFill>
                <a:latin typeface="Courier New"/>
              </a:rPr>
              <a:t>ExampleActor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67B7A4"/>
                </a:solidFill>
                <a:latin typeface="Courier New"/>
              </a:rPr>
              <a:t>startTasks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300" b="0" i="0">
                <a:solidFill>
                  <a:srgbClr val="FC5FA3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label </a:t>
            </a:r>
            <a:r>
              <a:rPr sz="13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[</a:t>
            </a:r>
            <a:r>
              <a:rPr sz="1300" b="0" i="0">
                <a:solidFill>
                  <a:srgbClr val="FC6A5D"/>
                </a:solidFill>
                <a:latin typeface="Courier New"/>
              </a:rPr>
              <a:t>"a"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FC6A5D"/>
                </a:solidFill>
                <a:latin typeface="Courier New"/>
              </a:rPr>
              <a:t>"b"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FC6A5D"/>
                </a:solidFill>
                <a:latin typeface="Courier New"/>
              </a:rPr>
              <a:t>"c"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] {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3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</a:t>
            </a:r>
            <a:r>
              <a:rPr sz="13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5DD8FF"/>
                </a:solidFill>
                <a:latin typeface="Courier New"/>
              </a:rPr>
              <a:t>MainActor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.run {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    </a:t>
            </a:r>
            <a:r>
              <a:rPr sz="13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(label, terminator: </a:t>
            </a:r>
            <a:r>
              <a:rPr sz="1300" b="0" i="0">
                <a:solidFill>
                  <a:srgbClr val="FC6A5D"/>
                </a:solidFill>
                <a:latin typeface="Courier New"/>
              </a:rPr>
              <a:t>""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}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    </a:t>
            </a:r>
            <a:r>
              <a:rPr sz="1300" b="0" i="0">
                <a:solidFill>
                  <a:srgbClr val="FC5FA3"/>
                </a:solidFill>
                <a:latin typeface="Courier New"/>
              </a:rPr>
              <a:t>self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67B7A4"/>
                </a:solidFill>
                <a:latin typeface="Courier New"/>
              </a:rPr>
              <a:t>assertIsolated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    }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4564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30D158"/>
                </a:solidFill>
                <a:latin typeface="Arial"/>
              </a:rPr>
              <a:t>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3913632" cy="3383280"/>
          </a:xfrm>
          <a:prstGeom prst="roundRect">
            <a:avLst>
              <a:gd name="adj" fmla="val 2702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87451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9F0A"/>
                </a:solidFill>
                <a:latin typeface="Arial"/>
              </a:rPr>
              <a:t>THE EXAMPLE NOTE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44968" y="2392984"/>
            <a:ext cx="51206" cy="57608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96174" y="2332817"/>
            <a:ext cx="76810" cy="117775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28431" y="227685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Runs on ExampleActor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Arial"/>
              </a:rPr>
              <a:t>self capture → assertIsolated() passes</a:t>
            </a:r>
          </a:p>
        </p:txBody>
      </p:sp>
      <p:sp>
        <p:nvSpPr>
          <p:cNvPr id="14" name="Oval 13"/>
          <p:cNvSpPr/>
          <p:nvPr/>
        </p:nvSpPr>
        <p:spPr>
          <a:xfrm>
            <a:off x="7744968" y="2999232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28431" y="29443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May START on MainActor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322783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Arial"/>
              </a:rPr>
              <a:t>compiler may optimize the start · SE-0431</a:t>
            </a:r>
          </a:p>
        </p:txBody>
      </p:sp>
      <p:sp>
        <p:nvSpPr>
          <p:cNvPr id="17" name="Oval 16"/>
          <p:cNvSpPr/>
          <p:nvPr/>
        </p:nvSpPr>
        <p:spPr>
          <a:xfrm>
            <a:off x="7744968" y="3666744"/>
            <a:ext cx="109728" cy="109728"/>
          </a:xfrm>
          <a:prstGeom prst="ellipse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36118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Start order not guaranteed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38953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Arial"/>
              </a:rPr>
              <a:t>implicit isolation makes no ordering promise</a:t>
            </a:r>
          </a:p>
        </p:txBody>
      </p:sp>
      <p:sp>
        <p:nvSpPr>
          <p:cNvPr id="20" name="Oval 19"/>
          <p:cNvSpPr/>
          <p:nvPr/>
        </p:nvSpPr>
        <p:spPr>
          <a:xfrm>
            <a:off x="7744968" y="4334256"/>
            <a:ext cx="109728" cy="109728"/>
          </a:xfrm>
          <a:prstGeom prst="ellipse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28431" y="4279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Swift 6.2: not optimized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45628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Arial"/>
              </a:rPr>
              <a:t>observed, not promised — never rely on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93792"/>
            <a:ext cx="10543032" cy="841248"/>
          </a:xfrm>
          <a:prstGeom prst="roundRect">
            <a:avLst>
              <a:gd name="adj" fmla="val 10869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5193792"/>
            <a:ext cx="82296" cy="84124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5193792"/>
            <a:ext cx="8412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1">
                <a:solidFill>
                  <a:srgbClr val="FFFFFF"/>
                </a:solidFill>
                <a:latin typeface="Arial"/>
              </a:rPr>
              <a:t>“Swift reserves the right to optimize the execution of tasks — including </a:t>
            </a:r>
            <a:r>
              <a:rPr sz="1400" b="1" i="1">
                <a:solidFill>
                  <a:srgbClr val="FF9F0A"/>
                </a:solidFill>
                <a:latin typeface="Arial"/>
              </a:rPr>
              <a:t>where the task initially starts executing</a:t>
            </a:r>
            <a:r>
              <a:rPr sz="1400" b="0" i="1">
                <a:solidFill>
                  <a:srgbClr val="FFFFFF"/>
                </a:solidFill>
                <a:latin typeface="Arial"/>
              </a:rPr>
              <a:t>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5193792"/>
            <a:ext cx="1600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64D2FF"/>
                </a:solidFill>
                <a:latin typeface="Arial"/>
                <a:hlinkClick r:id="rId3"/>
              </a:rPr>
              <a:t>SE-0431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22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02 ·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692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Creation order is execution order only when the closure is </a:t>
            </a:r>
            <a:r>
              <a:rPr sz="4000" b="1" i="0">
                <a:solidFill>
                  <a:srgbClr val="FF9F0A"/>
                </a:solidFill>
                <a:latin typeface="Arial"/>
              </a:rPr>
              <a:t>formally isolated</a:t>
            </a:r>
            <a:r>
              <a:rPr sz="4000" b="1" i="0">
                <a:solidFill>
                  <a:srgbClr val="FFFFFF"/>
                </a:solidFill>
                <a:latin typeface="Arial"/>
              </a:rPr>
              <a:t> to that actor.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8989D"/>
                </a:solidFill>
                <a:latin typeface="Arial"/>
              </a:rPr>
              <a:t>Formal isolation = an explicit attribute on the closure — </a:t>
            </a:r>
            <a:r>
              <a:rPr sz="1500" b="0" i="0">
                <a:solidFill>
                  <a:srgbClr val="98989D"/>
                </a:solidFill>
                <a:latin typeface="Courier New"/>
              </a:rPr>
              <a:t>Task { @MainActor in … }</a:t>
            </a:r>
            <a:r>
              <a:rPr sz="1600" b="0" i="0">
                <a:solidFill>
                  <a:srgbClr val="98989D"/>
                </a:solidFill>
                <a:latin typeface="Arial"/>
              </a:rPr>
              <a:t>. A bare </a:t>
            </a:r>
            <a:r>
              <a:rPr sz="1500" b="0" i="0">
                <a:solidFill>
                  <a:srgbClr val="98989D"/>
                </a:solidFill>
                <a:latin typeface="Courier New"/>
              </a:rPr>
              <a:t>self</a:t>
            </a:r>
            <a:r>
              <a:rPr sz="1600" b="0" i="0">
                <a:solidFill>
                  <a:srgbClr val="98989D"/>
                </a:solidFill>
                <a:latin typeface="Arial"/>
              </a:rPr>
              <a:t> capture is only implicit — and the promise covers the start, not what happens after the first 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23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Swift 6.2 moved your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nonisolated async doesn't run where it used 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03 · SE-0461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Where does a nonisolated function run?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3319272" cy="3566160"/>
          </a:xfrm>
          <a:prstGeom prst="roundRect">
            <a:avLst>
              <a:gd name="adj" fmla="val 3305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2807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nonisolated 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286000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always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834640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889504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caller's 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7008" y="3136392"/>
            <a:ext cx="2313432" cy="237744"/>
          </a:xfrm>
          <a:prstGeom prst="roundRect">
            <a:avLst>
              <a:gd name="adj" fmla="val 3076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78992" y="3749039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3803903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global 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709160"/>
            <a:ext cx="2807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9F0A"/>
                </a:solidFill>
                <a:latin typeface="Arial"/>
              </a:rPr>
              <a:t>Caller's 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19272" cy="3566160"/>
          </a:xfrm>
          <a:prstGeom prst="roundRect">
            <a:avLst>
              <a:gd name="adj" fmla="val 3305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920240"/>
            <a:ext cx="2807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nonisolated  async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86000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Swift ≤ 6.1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0872" y="2834640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18888" y="2889504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caller's 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3749039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18888" y="3803903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global executor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4050791"/>
            <a:ext cx="2313432" cy="237744"/>
          </a:xfrm>
          <a:prstGeom prst="roundRect">
            <a:avLst>
              <a:gd name="adj" fmla="val 30769"/>
            </a:avLst>
          </a:prstGeom>
          <a:solidFill>
            <a:srgbClr val="0A84FF">
              <a:alpha val="28000"/>
            </a:srgbClr>
          </a:solidFill>
          <a:ln w="1270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90872" y="4709160"/>
            <a:ext cx="2807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84FF"/>
                </a:solidFill>
                <a:latin typeface="Arial"/>
              </a:rPr>
              <a:t>Global executor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1691640"/>
            <a:ext cx="3319272" cy="3566160"/>
          </a:xfrm>
          <a:prstGeom prst="roundRect">
            <a:avLst>
              <a:gd name="adj" fmla="val 3305"/>
            </a:avLst>
          </a:prstGeom>
          <a:solidFill>
            <a:srgbClr val="141417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1" y="1920240"/>
            <a:ext cx="2807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nonisolated  async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286000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Arial"/>
              </a:rPr>
              <a:t>6.2  ·  nonsending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1" y="2834640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7" y="2889504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caller's actor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7" y="3136392"/>
            <a:ext cx="2313432" cy="237744"/>
          </a:xfrm>
          <a:prstGeom prst="roundRect">
            <a:avLst>
              <a:gd name="adj" fmla="val 3076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02751" y="3749039"/>
            <a:ext cx="2807208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0767" y="3803903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global 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4709160"/>
            <a:ext cx="2807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9F0A"/>
                </a:solidFill>
                <a:latin typeface="Arial"/>
              </a:rPr>
              <a:t>Caller's actor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Same code, new executor — flag: </a:t>
            </a:r>
            <a:r>
              <a:rPr sz="1600" b="1" i="0">
                <a:solidFill>
                  <a:srgbClr val="FF9F0A"/>
                </a:solidFill>
                <a:latin typeface="Courier New"/>
              </a:rPr>
              <a:t>NonisolatedNonsendingByDefault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25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03 · @CONCURRENT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@concurrent is the explicit way off the 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4596384"/>
            <a:ext cx="10323576" cy="2529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" y="4863084"/>
            <a:ext cx="10323576" cy="2529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ScreenModel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pad =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Scratchpad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         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NOT Sendable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6.2: runs on the CALLER's actor - pad never leaves MainActor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nonisolated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summarize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(_ pad: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Scratchpad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"main thread? \(pthread_main_np() != 0)"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true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explicit opt-out: global executor, Sendable inputs only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@concurrent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nonisolated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renderReport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(lineCount: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"main thread? \(pthread_main_np() != 0)"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false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Want off the actor? Say so: </a:t>
            </a:r>
            <a:r>
              <a:rPr sz="1800" b="1" i="0">
                <a:solidFill>
                  <a:srgbClr val="FF9F0A"/>
                </a:solidFill>
                <a:latin typeface="Courier New"/>
              </a:rPr>
              <a:t>@concurrent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 ·  Examples/11, run both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26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03 · SE-0472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Task { } never runs now — Task.immediate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729484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var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counter 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we're already on the main 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counter +=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(counter)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0 - the task hasn't started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.immediate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counter +=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runs synchronously, right now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refresh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first real suspension...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counter +=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...the rest is enqueued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(counter)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27020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still 0!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Runs on the caller until the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first real suspension</a:t>
            </a:r>
            <a:r>
              <a:rPr sz="1800" b="1" i="0">
                <a:solidFill>
                  <a:srgbClr val="FFFFFF"/>
                </a:solidFill>
                <a:latin typeface="Arial"/>
              </a:rPr>
              <a:t>, then enqueues the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27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03 · APPROACHABLE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New projects default to the main actor</a:t>
            </a:r>
          </a:p>
        </p:txBody>
      </p:sp>
      <p:sp>
        <p:nvSpPr>
          <p:cNvPr id="4" name="Oval 3"/>
          <p:cNvSpPr/>
          <p:nvPr/>
        </p:nvSpPr>
        <p:spPr>
          <a:xfrm>
            <a:off x="896112" y="2121408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19933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defaultIsolation(MainActor.self)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9572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Unannotated code is now @MainActor — SE-0466, on by default in new Xcode projects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3145536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30175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Your app is single-threaded until you opt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41985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CPU work silently runs on main — reach for @concurrent or an actor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4169663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404164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Inferred @MainActor breaks nonisolated conformances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439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Codable, Comparable, Hashable on your types may stop compiling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519379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506577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Migration is per-module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811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Mixed-mode dependencies keep the old hop behavior — check both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28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Actors don't hold the 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Every await is a door someone else can walk through.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04 · REENTRANCY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One ticket, two happy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2996183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TicketOffice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var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availableTickets 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reserve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(_ name: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String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Bool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guard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availableTickets &gt;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confirmPayment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(name)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suspension - actor is FREE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availableTickets -=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both callers reach this line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true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6C7986"/>
                </a:solidFill>
                <a:latin typeface="Courier New"/>
              </a:rPr>
              <a:t>// two callers, same actor, overlapping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a = office.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reserve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"Asha"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b = office.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reserve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"Ben"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29687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actor unlocked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No data race — a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logic race</a:t>
            </a:r>
            <a:r>
              <a:rPr sz="1800" b="1" i="0">
                <a:solidFill>
                  <a:srgbClr val="FFFFFF"/>
                </a:solidFill>
                <a:latin typeface="Arial"/>
              </a:rPr>
              <a:t>: the guard's answer expired at the await  ·  Examples/07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30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04 · THE INTERLEAVING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What the actor did during the await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15341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Asha's reserve()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3433572"/>
            <a:ext cx="128016" cy="128016"/>
          </a:xfrm>
          <a:prstGeom prst="ellipse">
            <a:avLst/>
          </a:prstGeom>
          <a:solidFill>
            <a:srgbClr val="BF5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2232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Ben's reserve()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6197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guard sees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06197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0B0B0D"/>
          </a:solidFill>
          <a:ln w="12700">
            <a:solidFill>
              <a:srgbClr val="FF9F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suspended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6197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tickets −= 1 →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34213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BF5AF2">
              <a:alpha val="28000"/>
            </a:srgbClr>
          </a:solidFill>
          <a:ln w="12700">
            <a:solidFill>
              <a:srgbClr val="BF5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BF5AF2"/>
                </a:solidFill>
                <a:latin typeface="Arial"/>
              </a:rPr>
              <a:t>guard sees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34213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0B0B0D"/>
          </a:solidFill>
          <a:ln w="12700">
            <a:solidFill>
              <a:srgbClr val="BF5AF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BF5AF2"/>
                </a:solidFill>
                <a:latin typeface="Arial"/>
              </a:rPr>
              <a:t>suspended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34213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453A">
              <a:alpha val="28000"/>
            </a:srgbClr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453A"/>
                </a:solidFill>
                <a:latin typeface="Arial"/>
              </a:rPr>
              <a:t>tickets −= 1 → −1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17136" y="2219706"/>
            <a:ext cx="54863" cy="61721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71999" y="2155240"/>
            <a:ext cx="82297" cy="126187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45936" y="3499866"/>
            <a:ext cx="54863" cy="61722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400799" y="3435400"/>
            <a:ext cx="82297" cy="126188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950208" y="176936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9F0A"/>
                </a:solidFill>
                <a:latin typeface="Arial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5779007" y="176936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9F0A"/>
                </a:solidFill>
                <a:latin typeface="Arial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5779007" y="304952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BF5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BF5AF2"/>
                </a:solidFill>
                <a:latin typeface="Arial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7607807" y="304952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BF5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BF5AF2"/>
                </a:solidFill>
                <a:latin typeface="Arial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7607807" y="176936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9F0A"/>
                </a:solidFill>
                <a:latin typeface="Arial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9436607" y="3049523"/>
            <a:ext cx="237744" cy="237744"/>
          </a:xfrm>
          <a:prstGeom prst="ellipse">
            <a:avLst/>
          </a:prstGeom>
          <a:solidFill>
            <a:srgbClr val="141417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453A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33087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8989D"/>
                </a:solidFill>
                <a:latin typeface="Arial"/>
              </a:rPr>
              <a:t>One actor runs one caller at a time — yet both guards passed before either decrement.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08960" y="4828032"/>
            <a:ext cx="7315200" cy="0"/>
          </a:xfrm>
          <a:prstGeom prst="line">
            <a:avLst/>
          </a:prstGeom>
          <a:ln w="9525">
            <a:solidFill>
              <a:srgbClr val="2E2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6542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36366"/>
                </a:solidFill>
                <a:latin typeface="Arial"/>
              </a:rPr>
              <a:t>availableTickets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26679" y="4800600"/>
            <a:ext cx="0" cy="155448"/>
          </a:xfrm>
          <a:prstGeom prst="line">
            <a:avLst/>
          </a:prstGeom>
          <a:ln w="9525">
            <a:solidFill>
              <a:srgbClr val="2E2E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55480" y="4800600"/>
            <a:ext cx="0" cy="155448"/>
          </a:xfrm>
          <a:prstGeom prst="line">
            <a:avLst/>
          </a:prstGeom>
          <a:ln w="9525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26080" y="455371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455371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455371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453A"/>
                </a:solidFill>
                <a:latin typeface="Arial"/>
              </a:rPr>
              <a:t>−1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77440" y="5230368"/>
            <a:ext cx="8778240" cy="0"/>
          </a:xfrm>
          <a:prstGeom prst="line">
            <a:avLst/>
          </a:prstGeom>
          <a:ln w="9525">
            <a:solidFill>
              <a:srgbClr val="2E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515600" y="5294376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36366"/>
                </a:solidFill>
                <a:latin typeface="Arial"/>
              </a:rPr>
              <a:t>time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Actors protect memory —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not invariants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across suspension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31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04 · THE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9418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Re-check every invariant after </a:t>
            </a:r>
            <a:r>
              <a:rPr sz="4000" b="1" i="0">
                <a:solidFill>
                  <a:srgbClr val="FF9F0A"/>
                </a:solidFill>
                <a:latin typeface="Arial"/>
              </a:rPr>
              <a:t>every await</a:t>
            </a:r>
            <a:r>
              <a:rPr sz="4000" b="1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98989D"/>
                </a:solidFill>
                <a:latin typeface="Arial"/>
              </a:rPr>
              <a:t>WWDC21 · Protect mutable state with Swift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32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04 · A STURDIER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Hold a lock across the awaits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3262884"/>
            <a:ext cx="10323576" cy="2529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actor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TicketOffice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private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lock =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AsyncLock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private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var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availableTickets 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reserve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(_ name: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String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async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-&gt;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Bool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lock.withLock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guard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availableTickets &gt;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confirmPayment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(name)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suspends - but no rival enters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availableTickets -=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the guard's answer still holds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true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32354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30D158"/>
                </a:solidFill>
                <a:latin typeface="Arial"/>
              </a:rPr>
              <a:t>reentrancy fenced off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Arial"/>
              </a:rPr>
              <a:t>AsyncLock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holds exclusivity across awaits  ·  </a:t>
            </a:r>
            <a:r>
              <a:rPr sz="1800" b="1" i="0" dirty="0">
                <a:solidFill>
                  <a:srgbClr val="FF9F0A"/>
                </a:solidFill>
                <a:latin typeface="Arial"/>
                <a:hlinkClick r:id="rId3"/>
              </a:rPr>
              <a:t>swift-stdlibplus / AsyncLock.swift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33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Where did my error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Task groups clean up quietly — sometimes too quietly.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05 · ERROR DISCARD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Return early, lose the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4329683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withThrowingTaskGroup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(of: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self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{ group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group.addTask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sleep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(nanoseconds: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600_000_000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 finished normally"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group.addTask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await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Task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sleep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(nanoseconds: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200_000_000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throw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DemoError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.boom     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B throws...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...but nobody called group.next()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FC6A5D"/>
                </a:solidFill>
                <a:latin typeface="Courier New"/>
              </a:rPr>
              <a:t>"after group"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B's error vanished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4302252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Arial"/>
              </a:rPr>
              <a:t>error discarded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Unconsumed child results — including errors — are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dropped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at scope exit  ·  Examples/04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35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05 · 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group waits — but doesn't listen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43032" cy="868680"/>
          </a:xfrm>
          <a:prstGeom prst="roundRect">
            <a:avLst>
              <a:gd name="adj" fmla="val 8421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15341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9431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43032" cy="868680"/>
          </a:xfrm>
          <a:prstGeom prst="roundRect">
            <a:avLst>
              <a:gd name="adj" fmla="val 8421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3204972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9946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Child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10543032" cy="868680"/>
          </a:xfrm>
          <a:prstGeom prst="roundRect">
            <a:avLst>
              <a:gd name="adj" fmla="val 8421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4256531"/>
            <a:ext cx="128016" cy="128016"/>
          </a:xfrm>
          <a:prstGeom prst="ellipse">
            <a:avLst/>
          </a:prstGeom>
          <a:solidFill>
            <a:srgbClr val="BF5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0462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Child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06197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body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061972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0B0B0D"/>
          </a:solidFill>
          <a:ln w="12700">
            <a:solidFill>
              <a:srgbClr val="FF9F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9F0A"/>
                </a:solidFill>
                <a:latin typeface="Arial"/>
              </a:rPr>
              <a:t>implicitly awaits all children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06197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scope exits — no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113532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0A84FF">
              <a:alpha val="28000"/>
            </a:srgbClr>
          </a:solidFill>
          <a:ln w="1270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0A84FF"/>
                </a:solidFill>
                <a:latin typeface="Arial"/>
              </a:rPr>
              <a:t>sleep 600 ms →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65091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BF5AF2">
              <a:alpha val="28000"/>
            </a:srgbClr>
          </a:solidFill>
          <a:ln w="12700">
            <a:solidFill>
              <a:srgbClr val="BF5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BF5AF2"/>
                </a:solidFill>
                <a:latin typeface="Arial"/>
              </a:rPr>
              <a:t>sleep 200 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28032" y="4206240"/>
            <a:ext cx="164592" cy="164591"/>
          </a:xfrm>
          <a:prstGeom prst="line">
            <a:avLst/>
          </a:prstGeom>
          <a:ln w="3175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28032" y="4206240"/>
            <a:ext cx="164592" cy="164591"/>
          </a:xfrm>
          <a:prstGeom prst="line">
            <a:avLst/>
          </a:prstGeom>
          <a:ln w="3175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66360" y="42245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453A"/>
                </a:solidFill>
                <a:latin typeface="Arial"/>
              </a:rPr>
              <a:t>throws — nobody is listening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5029200"/>
            <a:ext cx="8778240" cy="0"/>
          </a:xfrm>
          <a:prstGeom prst="line">
            <a:avLst/>
          </a:prstGeom>
          <a:ln w="9525">
            <a:solidFill>
              <a:srgbClr val="2E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0" y="509320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36366"/>
                </a:solidFill>
                <a:latin typeface="Arial"/>
              </a:rPr>
              <a:t>time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Children never outlive the scope — but only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group.next()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hears their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36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05 · SPEC ≠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proposal promised a cancel that never shipped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64208"/>
            <a:ext cx="5120640" cy="2103120"/>
          </a:xfrm>
          <a:prstGeom prst="roundRect">
            <a:avLst>
              <a:gd name="adj" fmla="val 4347"/>
            </a:avLst>
          </a:prstGeom>
          <a:solidFill>
            <a:srgbClr val="141417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8470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453A"/>
                </a:solidFill>
                <a:latin typeface="Arial"/>
              </a:rPr>
              <a:t>SE-0304, AS ACCEPTED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313432"/>
            <a:ext cx="109728" cy="109728"/>
          </a:xfrm>
          <a:prstGeom prst="ellipse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Arial"/>
              </a:rPr>
              <a:t>awaits any not-yet-complete tasks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770632"/>
            <a:ext cx="118872" cy="118871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2770632"/>
            <a:ext cx="118872" cy="118871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27249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strike="sngStrike">
                <a:solidFill>
                  <a:srgbClr val="636366"/>
                </a:solidFill>
                <a:latin typeface="Arial"/>
              </a:rPr>
              <a:t>if a task throws, the rest are cancelled</a:t>
            </a:r>
            <a:r>
              <a:rPr sz="1100" b="1" i="0">
                <a:solidFill>
                  <a:srgbClr val="FF453A"/>
                </a:solidFill>
                <a:latin typeface="Arial"/>
              </a:rPr>
              <a:t>  never shipped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227832"/>
            <a:ext cx="109728" cy="109728"/>
          </a:xfrm>
          <a:prstGeom prst="ellipse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1821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Arial"/>
              </a:rPr>
              <a:t>group is guaranteed empty on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64208"/>
            <a:ext cx="5120640" cy="2103120"/>
          </a:xfrm>
          <a:prstGeom prst="roundRect">
            <a:avLst>
              <a:gd name="adj" fmla="val 4347"/>
            </a:avLst>
          </a:prstGeom>
          <a:solidFill>
            <a:srgbClr val="141417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18470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0D158"/>
                </a:solidFill>
                <a:latin typeface="Arial"/>
              </a:rPr>
              <a:t>SWIFT, AS IMPLEMENTED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19672" y="2342235"/>
            <a:ext cx="47548" cy="5349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567220" y="2286365"/>
            <a:ext cx="71324" cy="10936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3992" y="22677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Arial"/>
              </a:rPr>
              <a:t>awaits every remaining 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19672" y="2799435"/>
            <a:ext cx="47548" cy="5349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567220" y="2743565"/>
            <a:ext cx="71324" cy="10936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93992" y="27249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Arial"/>
              </a:rPr>
              <a:t>their results — errors included — are discarded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19672" y="3256635"/>
            <a:ext cx="47548" cy="5349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67220" y="3200765"/>
            <a:ext cx="71324" cy="109363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93992" y="318211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Arial"/>
              </a:rPr>
              <a:t>no effect on the sibling tasks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41648"/>
            <a:ext cx="10543032" cy="1170432"/>
          </a:xfrm>
          <a:prstGeom prst="roundRect">
            <a:avLst>
              <a:gd name="adj" fmla="val 7812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4041648"/>
            <a:ext cx="82296" cy="1170432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224528"/>
            <a:ext cx="9966960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1" dirty="0">
                <a:solidFill>
                  <a:srgbClr val="FFFFFF"/>
                </a:solidFill>
                <a:latin typeface="Arial"/>
              </a:rPr>
              <a:t>“The </a:t>
            </a:r>
            <a:r>
              <a:rPr lang="en-US" sz="1600" i="1" dirty="0">
                <a:solidFill>
                  <a:srgbClr val="FFFFFF"/>
                </a:solidFill>
                <a:latin typeface="Arial"/>
              </a:rPr>
              <a:t>…</a:t>
            </a:r>
            <a:r>
              <a:rPr sz="1600" b="0" i="1" dirty="0">
                <a:solidFill>
                  <a:srgbClr val="FFFFFF"/>
                </a:solidFill>
                <a:latin typeface="Arial"/>
              </a:rPr>
              <a:t> line here (about cancellation) </a:t>
            </a:r>
            <a:r>
              <a:rPr sz="1600" b="1" i="1" dirty="0">
                <a:solidFill>
                  <a:srgbClr val="FF9F0A"/>
                </a:solidFill>
                <a:latin typeface="Arial"/>
              </a:rPr>
              <a:t>has never been the implemented behavior</a:t>
            </a:r>
            <a:r>
              <a:rPr sz="1600" b="0" i="1" dirty="0">
                <a:solidFill>
                  <a:srgbClr val="FFFFFF"/>
                </a:solidFill>
                <a:latin typeface="Arial"/>
              </a:rPr>
              <a:t> of </a:t>
            </a:r>
            <a:r>
              <a:rPr sz="1600" b="0" i="1" dirty="0" err="1">
                <a:solidFill>
                  <a:srgbClr val="FFFFFF"/>
                </a:solidFill>
                <a:latin typeface="Arial"/>
              </a:rPr>
              <a:t>withThrowingTaskGroup</a:t>
            </a:r>
            <a:r>
              <a:rPr sz="1600" b="0" i="1" dirty="0">
                <a:solidFill>
                  <a:srgbClr val="FFFFFF"/>
                </a:solidFill>
                <a:latin typeface="Arial"/>
              </a:rPr>
              <a:t>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8289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36366"/>
                </a:solidFill>
                <a:latin typeface="Arial"/>
              </a:rPr>
              <a:t>John McCall · Swift Language Steering Group · SE-0304 revision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636366"/>
                </a:solidFill>
                <a:latin typeface="Arial"/>
              </a:rPr>
              <a:t>Sources:  </a:t>
            </a:r>
            <a:r>
              <a:rPr sz="1200" b="0" i="0" dirty="0">
                <a:solidFill>
                  <a:srgbClr val="64D2FF"/>
                </a:solidFill>
                <a:latin typeface="Arial"/>
                <a:hlinkClick r:id="rId3"/>
              </a:rPr>
              <a:t>SE-0304 revision history</a:t>
            </a:r>
            <a:r>
              <a:rPr sz="1200" b="0" i="0" dirty="0">
                <a:solidFill>
                  <a:srgbClr val="636366"/>
                </a:solidFill>
                <a:latin typeface="Arial"/>
              </a:rPr>
              <a:t>   ·   </a:t>
            </a:r>
            <a:r>
              <a:rPr sz="1200" b="0" i="0" dirty="0">
                <a:solidFill>
                  <a:srgbClr val="64D2FF"/>
                </a:solidFill>
                <a:latin typeface="Arial"/>
                <a:hlinkClick r:id="rId4"/>
              </a:rPr>
              <a:t>LSG revision (McCall)</a:t>
            </a:r>
            <a:r>
              <a:rPr sz="1200" b="0" i="0" dirty="0">
                <a:solidFill>
                  <a:srgbClr val="636366"/>
                </a:solidFill>
                <a:latin typeface="Arial"/>
              </a:rPr>
              <a:t>   ·   </a:t>
            </a:r>
            <a:r>
              <a:rPr sz="1200" b="0" i="0" dirty="0">
                <a:solidFill>
                  <a:srgbClr val="64D2FF"/>
                </a:solidFill>
                <a:latin typeface="Arial"/>
                <a:hlinkClick r:id="rId5"/>
              </a:rPr>
              <a:t>original “as accepted”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37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05 · 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four rules of leaving a group</a:t>
            </a:r>
          </a:p>
        </p:txBody>
      </p:sp>
      <p:sp>
        <p:nvSpPr>
          <p:cNvPr id="4" name="Oval 3"/>
          <p:cNvSpPr/>
          <p:nvPr/>
        </p:nvSpPr>
        <p:spPr>
          <a:xfrm>
            <a:off x="896112" y="2121408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19933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Scope exit always awaits every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9572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Structured concurrency: no child outlives withTaskGroup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3145536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30175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Results you didn't read are dropped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41985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Including thrown errors — consume with next() or for-await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4169663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404164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cancelAll() is a request, not an interrupt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439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Children keep running until they check Task.isCancelled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519379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506577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Throwing out of the body cancels, then awaits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811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The error propagates only after every child winds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38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FF9F0A"/>
                </a:solidFill>
                <a:latin typeface="Arial"/>
              </a:rP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3154680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3273552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33924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Legacy code, modern crashes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98989D"/>
                </a:solidFill>
                <a:latin typeface="Arial"/>
              </a:rPr>
              <a:t>Callbacks don't read your isolation annotations.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06 · LEGACY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rial"/>
              </a:rPr>
              <a:t>The </a:t>
            </a:r>
            <a:r>
              <a:rPr lang="en-US" sz="3200" b="1" i="0" dirty="0">
                <a:solidFill>
                  <a:srgbClr val="FFFFFF"/>
                </a:solidFill>
                <a:latin typeface="Arial"/>
              </a:rPr>
              <a:t>audio-</a:t>
            </a:r>
            <a:r>
              <a:rPr sz="3200" b="1" i="0" dirty="0">
                <a:solidFill>
                  <a:srgbClr val="FFFFFF"/>
                </a:solidFill>
                <a:latin typeface="Arial"/>
              </a:rPr>
              <a:t>tap that crashes</a:t>
            </a:r>
            <a:r>
              <a:rPr lang="en-US" sz="3200" b="1" i="0" dirty="0">
                <a:solidFill>
                  <a:srgbClr val="FFFFFF"/>
                </a:solidFill>
                <a:latin typeface="Arial"/>
              </a:rPr>
              <a:t> (from real debugging)</a:t>
            </a:r>
            <a:endParaRPr sz="3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1C1C21"/>
          </a:solidFill>
          <a:ln w="9525">
            <a:solidFill>
              <a:srgbClr val="2E2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4062984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" y="4329683"/>
            <a:ext cx="10323576" cy="2529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02952" cy="370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@MainActor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Recorder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let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engine = </a:t>
            </a:r>
            <a:r>
              <a:rPr sz="1400" b="0" i="0">
                <a:solidFill>
                  <a:srgbClr val="5DD8FF"/>
                </a:solidFill>
                <a:latin typeface="Courier New"/>
              </a:rPr>
              <a:t>AVAudioEngine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engine.inputNode.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installTap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(onBus: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                        bufferSize: </a:t>
            </a:r>
            <a:r>
              <a:rPr sz="1400" b="0" i="0">
                <a:solidFill>
                  <a:srgbClr val="D0BF69"/>
                </a:solidFill>
                <a:latin typeface="Courier New"/>
              </a:rPr>
              <a:t>1024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                        format: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nil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) { buffer, _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in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(buffer)  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closure inherited @MainActor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400" b="0" i="0">
                <a:solidFill>
                  <a:srgbClr val="FC5FA3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? engine.</a:t>
            </a:r>
            <a:r>
              <a:rPr sz="14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()   </a:t>
            </a:r>
            <a:r>
              <a:rPr sz="1400" b="0" i="0">
                <a:solidFill>
                  <a:srgbClr val="6C7986"/>
                </a:solidFill>
                <a:latin typeface="Courier New"/>
              </a:rPr>
              <a:t>// realtime thread will call the tap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2100"/>
              </a:lnSpc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4079588"/>
            <a:ext cx="2423160" cy="312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dirty="0">
                <a:solidFill>
                  <a:srgbClr val="FF453A"/>
                </a:solidFill>
                <a:latin typeface="Arial"/>
              </a:rPr>
              <a:t>inherits @MainActor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The closure inherits your actor — the render thread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doesn't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 ·  Examples/13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40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06 · THE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rial"/>
              </a:rPr>
              <a:t>Born </a:t>
            </a:r>
            <a:r>
              <a:rPr lang="en-US" sz="3200" b="1" i="0" dirty="0">
                <a:solidFill>
                  <a:srgbClr val="FFFFFF"/>
                </a:solidFill>
                <a:latin typeface="Arial"/>
              </a:rPr>
              <a:t>to be on</a:t>
            </a:r>
            <a:r>
              <a:rPr sz="3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Main Actor</a:t>
            </a:r>
            <a:r>
              <a:rPr sz="3200" b="1" i="0" dirty="0">
                <a:solidFill>
                  <a:srgbClr val="FFFFFF"/>
                </a:solidFill>
                <a:latin typeface="Arial"/>
              </a:rPr>
              <a:t>, invoked 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from audio thread</a:t>
            </a:r>
            <a:endParaRPr sz="3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47345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2631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Main 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10543032" cy="1051560"/>
          </a:xfrm>
          <a:prstGeom prst="roundRect">
            <a:avLst>
              <a:gd name="adj" fmla="val 6956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4073652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8633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Audio render 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82012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F9F0A">
              <a:alpha val="28000"/>
            </a:srgbClr>
          </a:solidFill>
          <a:ln w="1270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9F0A"/>
                </a:solidFill>
                <a:latin typeface="Arial"/>
              </a:rPr>
              <a:t>closure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77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inherits @MainActor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8221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0A84FF">
              <a:alpha val="28000"/>
            </a:srgbClr>
          </a:solidFill>
          <a:ln w="1270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0A84FF"/>
                </a:solidFill>
                <a:latin typeface="Arial"/>
              </a:rPr>
              <a:t>tap invoked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537460"/>
            <a:ext cx="1737360" cy="1600200"/>
          </a:xfrm>
          <a:prstGeom prst="line">
            <a:avLst/>
          </a:prstGeom>
          <a:ln w="22225">
            <a:solidFill>
              <a:srgbClr val="FF453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17520" y="3063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FF453A"/>
                </a:solidFill>
                <a:latin typeface="Arial"/>
              </a:rPr>
              <a:t>executor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82803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453A"/>
                </a:solidFill>
                <a:latin typeface="Arial"/>
              </a:rPr>
              <a:t>runtime check → EXC_BAD_INSTRUCTION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5486400"/>
            <a:ext cx="8778240" cy="0"/>
          </a:xfrm>
          <a:prstGeom prst="line">
            <a:avLst/>
          </a:prstGeom>
          <a:ln w="9525">
            <a:solidFill>
              <a:srgbClr val="2E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0" y="555040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36366"/>
                </a:solidFill>
                <a:latin typeface="Arial"/>
              </a:rPr>
              <a:t>time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The compiler can't see it — the API predates </a:t>
            </a:r>
            <a:r>
              <a:rPr sz="1800" b="1" i="0">
                <a:solidFill>
                  <a:srgbClr val="FF9F0A"/>
                </a:solidFill>
                <a:latin typeface="Arial"/>
              </a:rPr>
              <a:t>isolation annotations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41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06 ·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rial"/>
              </a:rPr>
              <a:t>Build the closure where it will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FF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" y="3300984"/>
            <a:ext cx="4901183" cy="214884"/>
          </a:xfrm>
          <a:prstGeom prst="rect">
            <a:avLst/>
          </a:prstGeom>
          <a:solidFill>
            <a:srgbClr val="FF453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final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class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DD8FF"/>
                </a:solidFill>
                <a:latin typeface="Courier New"/>
              </a:rPr>
              <a:t>Recorder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engine.inputNode.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installTap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onBus: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, bufferSize: </a:t>
            </a:r>
            <a:r>
              <a:rPr sz="1200" b="0" i="0">
                <a:solidFill>
                  <a:srgbClr val="D0BF69"/>
                </a:solidFill>
                <a:latin typeface="Courier New"/>
              </a:rPr>
              <a:t>1024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format: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nil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) { buffer, _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in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(buffer)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>
                <a:solidFill>
                  <a:srgbClr val="FC5FA3"/>
                </a:solidFill>
                <a:latin typeface="Courier New"/>
              </a:rPr>
              <a:t>try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? engine.</a:t>
            </a:r>
            <a:r>
              <a:rPr sz="1200" b="0" i="0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920240"/>
            <a:ext cx="1525772" cy="347472"/>
          </a:xfrm>
          <a:prstGeom prst="roundRect">
            <a:avLst>
              <a:gd name="adj" fmla="val 50000"/>
            </a:avLst>
          </a:prstGeom>
          <a:solidFill>
            <a:srgbClr val="FF45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FF453A"/>
                </a:solidFill>
                <a:latin typeface="Arial"/>
              </a:rPr>
              <a:t>    CRASHES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07592" y="2029968"/>
            <a:ext cx="128015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07592" y="2029968"/>
            <a:ext cx="128015" cy="128016"/>
          </a:xfrm>
          <a:prstGeom prst="line">
            <a:avLst/>
          </a:prstGeom>
          <a:ln w="25400">
            <a:solidFill>
              <a:srgbClr val="FF45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5352" y="1691640"/>
            <a:ext cx="5120640" cy="3977639"/>
          </a:xfrm>
          <a:prstGeom prst="roundRect">
            <a:avLst>
              <a:gd name="adj" fmla="val 2758"/>
            </a:avLst>
          </a:prstGeom>
          <a:solidFill>
            <a:srgbClr val="1C1C21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2386584"/>
            <a:ext cx="4901183" cy="214884"/>
          </a:xfrm>
          <a:prstGeom prst="rect">
            <a:avLst/>
          </a:prstGeom>
          <a:solidFill>
            <a:srgbClr val="30D1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920240"/>
            <a:ext cx="4480559" cy="35204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 dirty="0" err="1">
                <a:solidFill>
                  <a:srgbClr val="FC5FA3"/>
                </a:solidFill>
                <a:latin typeface="Courier New"/>
              </a:rPr>
              <a:t>nonisolated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 err="1">
                <a:solidFill>
                  <a:srgbClr val="67B7A4"/>
                </a:solidFill>
                <a:latin typeface="Courier New"/>
              </a:rPr>
              <a:t>makeTapHandler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-&gt; </a:t>
            </a:r>
            <a:r>
              <a:rPr sz="1200" b="0" i="0" dirty="0" err="1">
                <a:solidFill>
                  <a:srgbClr val="5DD8FF"/>
                </a:solidFill>
                <a:latin typeface="Courier New"/>
              </a:rPr>
              <a:t>AVAudioNodeTapBlock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{ buffer, _ </a:t>
            </a:r>
            <a:r>
              <a:rPr sz="1200" b="0" i="0" dirty="0">
                <a:solidFill>
                  <a:srgbClr val="FC5FA3"/>
                </a:solidFill>
                <a:latin typeface="Courier New"/>
              </a:rPr>
              <a:t>in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67B7A4"/>
                </a:solidFill>
                <a:latin typeface="Courier New"/>
              </a:rPr>
              <a:t>print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(buffer) }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C5FA3"/>
                </a:solidFill>
                <a:latin typeface="Courier New"/>
              </a:rPr>
              <a:t>@MainActor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C5FA3"/>
                </a:solidFill>
                <a:latin typeface="Courier New"/>
              </a:rPr>
              <a:t>final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C5FA3"/>
                </a:solidFill>
                <a:latin typeface="Courier New"/>
              </a:rPr>
              <a:t>class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5DD8FF"/>
                </a:solidFill>
                <a:latin typeface="Courier New"/>
              </a:rPr>
              <a:t>Recorder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{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rgbClr val="FC5FA3"/>
                </a:solidFill>
                <a:latin typeface="Courier New"/>
              </a:rPr>
              <a:t>func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() {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engine.inputNode.</a:t>
            </a:r>
            <a:r>
              <a:rPr sz="1200" b="0" i="0" dirty="0" err="1">
                <a:solidFill>
                  <a:srgbClr val="67B7A4"/>
                </a:solidFill>
                <a:latin typeface="Courier New"/>
              </a:rPr>
              <a:t>installTap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   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onBus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: </a:t>
            </a:r>
            <a:r>
              <a:rPr sz="1200" b="0" i="0" dirty="0">
                <a:solidFill>
                  <a:srgbClr val="D0BF69"/>
                </a:solidFill>
                <a:latin typeface="Courier New"/>
              </a:rPr>
              <a:t>0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bufferSize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: </a:t>
            </a:r>
            <a:r>
              <a:rPr sz="1200" b="0" i="0" dirty="0">
                <a:solidFill>
                  <a:srgbClr val="D0BF69"/>
                </a:solidFill>
                <a:latin typeface="Courier New"/>
              </a:rPr>
              <a:t>1024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    format: </a:t>
            </a:r>
            <a:r>
              <a:rPr sz="1200" b="0" i="0" dirty="0">
                <a:solidFill>
                  <a:srgbClr val="FC5FA3"/>
                </a:solidFill>
                <a:latin typeface="Courier New"/>
              </a:rPr>
              <a:t>nil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,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    block: </a:t>
            </a:r>
            <a:r>
              <a:rPr sz="1200" b="0" i="0" dirty="0" err="1">
                <a:solidFill>
                  <a:srgbClr val="67B7A4"/>
                </a:solidFill>
                <a:latin typeface="Courier New"/>
              </a:rPr>
              <a:t>makeTapHandler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())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    </a:t>
            </a:r>
            <a:r>
              <a:rPr sz="1200" b="0" i="0" dirty="0">
                <a:solidFill>
                  <a:srgbClr val="FC5FA3"/>
                </a:solidFill>
                <a:latin typeface="Courier New"/>
              </a:rPr>
              <a:t>try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? </a:t>
            </a:r>
            <a:r>
              <a:rPr sz="1200" b="0" i="0" dirty="0" err="1">
                <a:solidFill>
                  <a:srgbClr val="FFFFFF"/>
                </a:solidFill>
                <a:latin typeface="Courier New"/>
              </a:rPr>
              <a:t>engine.</a:t>
            </a:r>
            <a:r>
              <a:rPr sz="1200" b="0" i="0" dirty="0" err="1">
                <a:solidFill>
                  <a:srgbClr val="67B7A4"/>
                </a:solidFill>
                <a:latin typeface="Courier New"/>
              </a:rPr>
              <a:t>start</a:t>
            </a:r>
            <a:r>
              <a:rPr sz="1200" b="0" i="0" dirty="0">
                <a:solidFill>
                  <a:srgbClr val="FFFFFF"/>
                </a:solidFill>
                <a:latin typeface="Courier New"/>
              </a:rPr>
              <a:t>()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pPr algn="l">
              <a:lnSpc>
                <a:spcPts val="1800"/>
              </a:lnSpc>
            </a:pPr>
            <a:r>
              <a:rPr sz="1200" b="0" i="0" dirty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1920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0D1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 spc="200">
                <a:solidFill>
                  <a:srgbClr val="30D158"/>
                </a:solidFill>
                <a:latin typeface="Arial"/>
              </a:rPr>
              <a:t>    WORKS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2100834"/>
            <a:ext cx="54863" cy="61722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75703" y="2036368"/>
            <a:ext cx="82297" cy="126188"/>
          </a:xfrm>
          <a:prstGeom prst="line">
            <a:avLst/>
          </a:prstGeom>
          <a:ln w="25400">
            <a:solidFill>
              <a:srgbClr val="30D1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" y="6144768"/>
            <a:ext cx="109728" cy="109728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989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 </a:t>
            </a:r>
            <a:r>
              <a:rPr sz="1800" b="1" i="0">
                <a:solidFill>
                  <a:srgbClr val="FF9F0A"/>
                </a:solidFill>
                <a:latin typeface="Courier New"/>
              </a:rPr>
              <a:t>nonisolated</a:t>
            </a:r>
            <a:r>
              <a:rPr sz="1800" b="1" i="0">
                <a:solidFill>
                  <a:srgbClr val="FFFFFF"/>
                </a:solidFill>
                <a:latin typeface="Arial"/>
              </a:rPr>
              <a:t> factory makes a closure with no strings attached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42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The gotchas, one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56231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Structured children never inherit isolation — and Task { } needs to see 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9631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569464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Creation order is start order — explicit isolation only, and only until the first 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9544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282696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6.2: nonisolated async runs on the caller — @concurrent opts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95928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Actors are reentrant — re-check state after every await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36008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091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Group bodies that return without next() discard child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9F0A"/>
                </a:solidFill>
                <a:latin typeface="Arial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422392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Framework callbacks don't read your isolation — build the closure where it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43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F9F0A"/>
                </a:solidFill>
                <a:latin typeface="Arial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Everything here is runnable</a:t>
            </a:r>
          </a:p>
        </p:txBody>
      </p:sp>
      <p:sp>
        <p:nvSpPr>
          <p:cNvPr id="4" name="Oval 3"/>
          <p:cNvSpPr/>
          <p:nvPr/>
        </p:nvSpPr>
        <p:spPr>
          <a:xfrm>
            <a:off x="896112" y="2121408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8448" y="19933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ConcurrencyInSwift.xcodeproj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9572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Examples 01–13 — every gotcha is a scheme you can build and crash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3145536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30175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WWDC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41985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Protect mutable state with Swift actors · Explore structured concurrency · Beyond the basics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4169663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404164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Swift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439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SE-0304 · SE-0420 · SE-0431 · SE-0461 · SE-0466 · SE-0472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5193792"/>
            <a:ext cx="128016" cy="128016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506577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Arial"/>
              </a:rPr>
              <a:t>massicotte.org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8448" y="546811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8989D"/>
                </a:solidFill>
                <a:latin typeface="Arial"/>
              </a:rPr>
              <a:t>The best plain-English explanations of Swift concurrency · swift-stdlibplus AsyncLock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36366"/>
                </a:solidFill>
                <a:latin typeface="Arial"/>
              </a:rPr>
              <a:t>Swift Concurrency Gotchas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A9B5F42-3E7C-4C1A-9B0D-1F2E3A4B5C6D}" type="slidenum">
              <a:rPr lang="en-US" sz="1000" dirty="0">
                <a:solidFill>
                  <a:srgbClr val="636366"/>
                </a:solidFill>
                <a:latin typeface="Arial"/>
              </a:rPr>
              <a:t>44</a:t>
            </a:fld>
            <a:endParaRPr lang="en-US" sz="1000" dirty="0">
              <a:solidFill>
                <a:srgbClr val="636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2103120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4984" y="2281427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07008" y="2459736"/>
            <a:ext cx="576072" cy="96012"/>
          </a:xfrm>
          <a:prstGeom prst="roundRect">
            <a:avLst>
              <a:gd name="adj" fmla="val 50000"/>
            </a:avLst>
          </a:prstGeom>
          <a:solidFill>
            <a:srgbClr val="FF9F0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Thank you</a:t>
            </a:r>
            <a:r>
              <a:rPr sz="6000" b="1" i="0">
                <a:solidFill>
                  <a:srgbClr val="FF9F0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98989D"/>
                </a:solidFill>
                <a:latin typeface="Arial"/>
              </a:rPr>
              <a:t>Swift Concurrency Gotchas — Winston 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5587</Words>
  <Application>Microsoft Macintosh PowerPoint</Application>
  <PresentationFormat>Widescreen</PresentationFormat>
  <Paragraphs>674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Winston Du</cp:lastModifiedBy>
  <cp:revision>8</cp:revision>
  <dcterms:created xsi:type="dcterms:W3CDTF">2013-01-27T09:14:16Z</dcterms:created>
  <dcterms:modified xsi:type="dcterms:W3CDTF">2026-07-16T02:36:18Z</dcterms:modified>
  <cp:category/>
</cp:coreProperties>
</file>